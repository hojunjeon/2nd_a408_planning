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C4E8"/>
    <a:srgbClr val="9FD8FB"/>
    <a:srgbClr val="0997EE"/>
    <a:srgbClr val="0077C8"/>
    <a:srgbClr val="41915F"/>
    <a:srgbClr val="8ECC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8" autoAdjust="0"/>
    <p:restoredTop sz="94660"/>
  </p:normalViewPr>
  <p:slideViewPr>
    <p:cSldViewPr snapToGrid="0">
      <p:cViewPr>
        <p:scale>
          <a:sx n="71" d="100"/>
          <a:sy n="71" d="100"/>
        </p:scale>
        <p:origin x="1998" y="-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723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461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08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40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048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64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45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43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476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667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635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0ECF5-3950-4397-AB5C-7E2BE8931AB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D799D-01AC-4208-96A0-9EF311890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94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07B4D503-4B88-47DF-AB4A-6500E1511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090433"/>
              </p:ext>
            </p:extLst>
          </p:nvPr>
        </p:nvGraphicFramePr>
        <p:xfrm>
          <a:off x="540000" y="720000"/>
          <a:ext cx="5778000" cy="7622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667">
                  <a:extLst>
                    <a:ext uri="{9D8B030D-6E8A-4147-A177-3AD203B41FA5}">
                      <a16:colId xmlns:a16="http://schemas.microsoft.com/office/drawing/2014/main" val="581903351"/>
                    </a:ext>
                  </a:extLst>
                </a:gridCol>
                <a:gridCol w="730182">
                  <a:extLst>
                    <a:ext uri="{9D8B030D-6E8A-4147-A177-3AD203B41FA5}">
                      <a16:colId xmlns:a16="http://schemas.microsoft.com/office/drawing/2014/main" val="2696554698"/>
                    </a:ext>
                  </a:extLst>
                </a:gridCol>
                <a:gridCol w="1920111">
                  <a:extLst>
                    <a:ext uri="{9D8B030D-6E8A-4147-A177-3AD203B41FA5}">
                      <a16:colId xmlns:a16="http://schemas.microsoft.com/office/drawing/2014/main" val="1047365099"/>
                    </a:ext>
                  </a:extLst>
                </a:gridCol>
                <a:gridCol w="1325146">
                  <a:extLst>
                    <a:ext uri="{9D8B030D-6E8A-4147-A177-3AD203B41FA5}">
                      <a16:colId xmlns:a16="http://schemas.microsoft.com/office/drawing/2014/main" val="2558871835"/>
                    </a:ext>
                  </a:extLst>
                </a:gridCol>
                <a:gridCol w="1279894">
                  <a:extLst>
                    <a:ext uri="{9D8B030D-6E8A-4147-A177-3AD203B41FA5}">
                      <a16:colId xmlns:a16="http://schemas.microsoft.com/office/drawing/2014/main" val="2326567657"/>
                    </a:ext>
                  </a:extLst>
                </a:gridCol>
              </a:tblGrid>
              <a:tr h="151229">
                <a:tc grid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SSAFY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특화 프로젝트 전문가 리뷰 사전 질문지 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(1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차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altLang="ko-K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ko-KR" sz="1200" b="1" dirty="0"/>
                    </a:p>
                  </a:txBody>
                  <a:tcPr>
                    <a:solidFill>
                      <a:srgbClr val="8ECC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518194"/>
                  </a:ext>
                </a:extLst>
              </a:tr>
              <a:tr h="1512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팀명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팀코드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A408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39251"/>
                  </a:ext>
                </a:extLst>
              </a:tr>
              <a:tr h="1512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구성원 및 역할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정재원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팀장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/BE), </a:t>
                      </a:r>
                      <a:r>
                        <a:rPr lang="ko-KR" altLang="en-US" sz="1100" dirty="0" err="1">
                          <a:latin typeface="+mn-ea"/>
                          <a:ea typeface="+mn-ea"/>
                        </a:rPr>
                        <a:t>고예린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(BE),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김성진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(AI), 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김재영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(FE),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윤현준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(INF), </a:t>
                      </a:r>
                      <a:r>
                        <a:rPr lang="ko-KR" altLang="en-US" sz="1100" dirty="0" err="1">
                          <a:latin typeface="+mn-ea"/>
                          <a:ea typeface="+mn-ea"/>
                        </a:rPr>
                        <a:t>전호준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(AI)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100" b="1" dirty="0">
                        <a:latin typeface="삼성긴고딕 Regular" panose="020B0600000101010101" pitchFamily="50" charset="-127"/>
                        <a:ea typeface="삼성긴고딕 Regular" panose="020B0600000101010101" pitchFamily="50" charset="-127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100" dirty="0">
                        <a:latin typeface="삼성긴고딕 Regular" panose="020B0600000101010101" pitchFamily="50" charset="-127"/>
                        <a:ea typeface="삼성긴고딕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709954"/>
                  </a:ext>
                </a:extLst>
              </a:tr>
              <a:tr h="151229">
                <a:tc grid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>
                          <a:latin typeface="+mn-ea"/>
                          <a:ea typeface="+mn-ea"/>
                        </a:rPr>
                        <a:t>프로젝트 정보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altLang="ko-K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altLang="ko-K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162263"/>
                  </a:ext>
                </a:extLst>
              </a:tr>
              <a:tr h="151229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프로젝트명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셋업</a:t>
                      </a:r>
                      <a:r>
                        <a:rPr lang="en-US" altLang="ko-KR" sz="900" dirty="0"/>
                        <a:t>(Setup)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308703"/>
                  </a:ext>
                </a:extLst>
              </a:tr>
              <a:tr h="1512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기획 배경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900" dirty="0"/>
                        <a:t>20~30</a:t>
                      </a:r>
                      <a:r>
                        <a:rPr lang="ko-KR" altLang="en-US" sz="900" dirty="0"/>
                        <a:t>대 청년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대학생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 err="1"/>
                        <a:t>취준생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사회초년생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은 받을 수 있는 정부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지자체 혜택이 있어도 기관별 조건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중복 제한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신청 순서를 직접 비교하기 어렵다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또한 알바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단기소득으로 지원 자격이 중단되거나 카드 할부 수수료를 불필요하게 부담하는 문제도 발생한다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셋업은 정책 탐색부터 자격 유지와 지출 관리까지 한 번에 돕기 위해 기획했다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54291"/>
                  </a:ext>
                </a:extLst>
              </a:tr>
              <a:tr h="151229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주요 기능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900" dirty="0"/>
                        <a:t>1. </a:t>
                      </a:r>
                      <a:r>
                        <a:rPr lang="ko-KR" altLang="en-US" sz="900" b="1" dirty="0"/>
                        <a:t>정책 찾기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신청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공공기관 청년 공고를 자동 수집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정리하고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사용자 조건에 맞는 정책과 중복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선후 관계 및 최적 신청 순서를 안내</a:t>
                      </a:r>
                      <a:br>
                        <a:rPr lang="ko-KR" altLang="en-US" sz="900" dirty="0"/>
                      </a:br>
                      <a:r>
                        <a:rPr lang="en-US" altLang="ko-KR" sz="900" dirty="0"/>
                        <a:t>2. </a:t>
                      </a:r>
                      <a:r>
                        <a:rPr lang="ko-KR" altLang="en-US" sz="900" b="1" dirty="0"/>
                        <a:t>자격 유지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결제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입금 문자에서 소득을 자동으로 누적해 기준 초과 위험과 대응 방법을 알림</a:t>
                      </a:r>
                      <a:br>
                        <a:rPr lang="ko-KR" altLang="en-US" sz="900" dirty="0"/>
                      </a:br>
                      <a:r>
                        <a:rPr lang="en-US" altLang="ko-KR" sz="900" dirty="0"/>
                        <a:t>3. </a:t>
                      </a:r>
                      <a:r>
                        <a:rPr lang="ko-KR" altLang="en-US" sz="900" b="1" dirty="0"/>
                        <a:t>지출 절감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할부 잔여 원금과 수수료를 계산해 지원금 입금 시점에 맞춘 중도상환 계획을 제안</a:t>
                      </a:r>
                      <a:br>
                        <a:rPr lang="ko-KR" altLang="en-US" sz="900" dirty="0"/>
                      </a:br>
                      <a:r>
                        <a:rPr lang="en-US" altLang="ko-KR" sz="900" dirty="0"/>
                        <a:t>4. </a:t>
                      </a:r>
                      <a:r>
                        <a:rPr lang="ko-KR" altLang="en-US" sz="900" b="1" dirty="0"/>
                        <a:t>자산 계획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절약한 지원금과 예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적금 조합에 따른 미래 자산 변화를 시뮬레이션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032383"/>
                  </a:ext>
                </a:extLst>
              </a:tr>
              <a:tr h="151229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기술 스택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900" dirty="0"/>
                        <a:t>FE: React Native, TypeScript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BE: Java 17, Spring Boot 3.x, Spring Data JPA, Redis, MySQL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AI/Data: Python 3.11, </a:t>
                      </a:r>
                      <a:r>
                        <a:rPr lang="en-US" altLang="ko-KR" sz="900" dirty="0" err="1"/>
                        <a:t>LangChain</a:t>
                      </a:r>
                      <a:r>
                        <a:rPr lang="en-US" altLang="ko-KR" sz="900" dirty="0"/>
                        <a:t>, </a:t>
                      </a:r>
                      <a:r>
                        <a:rPr lang="en-US" altLang="ko-KR" sz="900" dirty="0" err="1"/>
                        <a:t>LlamaParse</a:t>
                      </a:r>
                      <a:r>
                        <a:rPr lang="en-US" altLang="ko-KR" sz="900" dirty="0"/>
                        <a:t>, Unstructured, FAISS, </a:t>
                      </a:r>
                      <a:r>
                        <a:rPr lang="en-US" altLang="ko-KR" sz="900" dirty="0" err="1"/>
                        <a:t>FastAPI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Infra: Docker, AWS EC2/S3, FCM, CODEF Sandbox API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420072"/>
                  </a:ext>
                </a:extLst>
              </a:tr>
              <a:tr h="151229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진행 현황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900" dirty="0"/>
                        <a:t>기획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핵심 아키텍처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데이터 제약 전략 정리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479946"/>
                  </a:ext>
                </a:extLst>
              </a:tr>
              <a:tr h="151229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참고 링크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04866"/>
                  </a:ext>
                </a:extLst>
              </a:tr>
              <a:tr h="151229">
                <a:tc gridSpan="5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사전 질문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6DC4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912070"/>
                  </a:ext>
                </a:extLst>
              </a:tr>
              <a:tr h="15122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solidFill>
                      <a:srgbClr val="6DC4E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/>
                        <a:t>마이데이터를</a:t>
                      </a:r>
                      <a:r>
                        <a:rPr lang="ko-KR" altLang="en-US" sz="900" dirty="0"/>
                        <a:t> 직접 연동하기 어려운 상황에서 대안을 고민 중입니다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저희가 후보로 탐색한 </a:t>
                      </a:r>
                      <a:r>
                        <a:rPr lang="en-US" altLang="ko-KR" sz="900" dirty="0"/>
                        <a:t>SMS/PUSH </a:t>
                      </a:r>
                      <a:r>
                        <a:rPr lang="ko-KR" altLang="en-US" sz="900" dirty="0"/>
                        <a:t>파싱</a:t>
                      </a:r>
                      <a:r>
                        <a:rPr lang="en-US" altLang="ko-KR" sz="900" dirty="0"/>
                        <a:t>, CODEF Sandbox/Demo</a:t>
                      </a:r>
                      <a:r>
                        <a:rPr lang="ko-KR" altLang="en-US" sz="900" dirty="0"/>
                        <a:t> 중 어떤 선택을 하면 좋을지</a:t>
                      </a:r>
                      <a:r>
                        <a:rPr lang="en-US" altLang="ko-KR" sz="900" dirty="0"/>
                        <a:t>, SSAFY</a:t>
                      </a:r>
                      <a:r>
                        <a:rPr lang="ko-KR" altLang="en-US" sz="900" dirty="0"/>
                        <a:t> 에서 제공하는 금융 </a:t>
                      </a:r>
                      <a:r>
                        <a:rPr lang="en-US" altLang="ko-KR" sz="900" dirty="0"/>
                        <a:t>API</a:t>
                      </a:r>
                      <a:r>
                        <a:rPr lang="ko-KR" altLang="en-US" sz="900" dirty="0"/>
                        <a:t>는 어떤 내용을 담고 있는지 질문 드리고 싶습니다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054577"/>
                  </a:ext>
                </a:extLst>
              </a:tr>
              <a:tr h="15122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>
                    <a:solidFill>
                      <a:srgbClr val="6DC4E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많은 공공문서가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HWP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로 작성되어 있는데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AI Agent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 표나 공식박스 등 시각적 구조를 잘 이해할 수 있는 방법이 있는지 궁금합니다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404925"/>
                  </a:ext>
                </a:extLst>
              </a:tr>
              <a:tr h="15122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>
                    <a:solidFill>
                      <a:srgbClr val="6DC4E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이런 주제에 어떤 차별화 포인트를 주면 좋을까요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08327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5647B761-223B-4F29-986A-69788E8BDEA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8761200"/>
            <a:ext cx="853128" cy="6048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0B19774-03D8-4D31-A9F4-2C75E6C2FDE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953" y="8877506"/>
            <a:ext cx="1509207" cy="37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45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6061</TotalTime>
  <Words>342</Words>
  <Application>Microsoft Office PowerPoint</Application>
  <PresentationFormat>A4 용지(210x297mm)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호준 전</cp:lastModifiedBy>
  <cp:revision>30</cp:revision>
  <dcterms:created xsi:type="dcterms:W3CDTF">2026-02-09T03:46:57Z</dcterms:created>
  <dcterms:modified xsi:type="dcterms:W3CDTF">2026-08-21T05:57:14Z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